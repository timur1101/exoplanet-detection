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27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65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13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4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59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5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05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09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93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46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593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343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21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537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435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12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83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35AD12B-60A7-4F8B-ACA4-5591EB82045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FCB4722-B10A-45F0-8898-7055C826D9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265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F37F38-C628-41C5-AD84-DBB093F2C71C}"/>
              </a:ext>
            </a:extLst>
          </p:cNvPr>
          <p:cNvSpPr txBox="1"/>
          <p:nvPr/>
        </p:nvSpPr>
        <p:spPr>
          <a:xfrm>
            <a:off x="519953" y="479176"/>
            <a:ext cx="111789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dirty="0"/>
              <a:t>🪐 </a:t>
            </a:r>
            <a:r>
              <a:rPr lang="ru-RU" sz="5400" b="1" dirty="0"/>
              <a:t>ExoHunter — поиск экзопланет с помощью машинного обучения</a:t>
            </a:r>
            <a:endParaRPr lang="ru-RU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E813D-5F5E-40CF-AD1B-90FF04F623BA}"/>
              </a:ext>
            </a:extLst>
          </p:cNvPr>
          <p:cNvSpPr txBox="1"/>
          <p:nvPr/>
        </p:nvSpPr>
        <p:spPr>
          <a:xfrm>
            <a:off x="717176" y="2223840"/>
            <a:ext cx="1028251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Я разработал проект ExoHunter — систему машинного обучения для классификации кандидатов в экзопланеты на основе данных NASA Kepler.</a:t>
            </a:r>
          </a:p>
          <a:p>
            <a:r>
              <a:rPr lang="ru-RU" sz="2400" dirty="0"/>
              <a:t>Цель проекта — автоматически определять вероятность того, что объект является подтверждённой экзопланетой.</a:t>
            </a:r>
          </a:p>
          <a:p>
            <a:r>
              <a:rPr lang="ru-RU" sz="2400" dirty="0"/>
              <a:t>Проект включает: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preprocessing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сравнение ML-моделей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hyperparameter tuning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анализ feature importance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Streamlit deployment</a:t>
            </a:r>
          </a:p>
        </p:txBody>
      </p:sp>
    </p:spTree>
    <p:extLst>
      <p:ext uri="{BB962C8B-B14F-4D97-AF65-F5344CB8AC3E}">
        <p14:creationId xmlns:p14="http://schemas.microsoft.com/office/powerpoint/2010/main" val="220597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E6C8-66F7-4E4D-8A72-0215C234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📡 Данные и признаки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ABF5-EE4F-450A-B95A-D3409D5C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Телескопы NASA, например Kepler, собирают огромные объёмы данных о звёздах и возможных транзитах планет.</a:t>
            </a:r>
          </a:p>
          <a:p>
            <a:pPr marL="0" indent="0">
              <a:buNone/>
            </a:pPr>
            <a:r>
              <a:rPr lang="ru-RU" dirty="0"/>
              <a:t>При прохождении планеты перед звездой яркость звезды немного уменьшается.</a:t>
            </a:r>
          </a:p>
          <a:p>
            <a:pPr marL="0" indent="0">
              <a:buNone/>
            </a:pPr>
            <a:r>
              <a:rPr lang="ru-RU" dirty="0"/>
              <a:t>Такие сигналы называются транзитами.</a:t>
            </a:r>
          </a:p>
          <a:p>
            <a:pPr marL="0" indent="0">
              <a:buNone/>
            </a:pPr>
            <a:r>
              <a:rPr lang="ru-RU" dirty="0"/>
              <a:t>Однако: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далеко не каждый сигнал является настоящей планетой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 содержат шум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существуют ложные сигналы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объём наблюдений слишком большой для ручного анализа </a:t>
            </a:r>
          </a:p>
          <a:p>
            <a:pPr marL="0" indent="0">
              <a:buNone/>
            </a:pPr>
            <a:r>
              <a:rPr lang="ru-RU" dirty="0"/>
              <a:t>Поэтому возникает задача автоматической классификации кандидатов в экзопланеты с помощью машинного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42899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E6C8-66F7-4E4D-8A72-0215C234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06" y="46037"/>
            <a:ext cx="10515600" cy="1325563"/>
          </a:xfrm>
        </p:spPr>
        <p:txBody>
          <a:bodyPr/>
          <a:lstStyle/>
          <a:p>
            <a:r>
              <a:rPr lang="ru-RU" dirty="0"/>
              <a:t>📡 Данные и признаки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ABF5-EE4F-450A-B95A-D3409D5C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2" y="1246094"/>
            <a:ext cx="10797988" cy="52802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/>
              <a:t>Для проекта использовался </a:t>
            </a:r>
            <a:r>
              <a:rPr lang="en-US" sz="1200" dirty="0"/>
              <a:t>NASA Kepler Exoplanet Dataset.</a:t>
            </a:r>
            <a:r>
              <a:rPr lang="ru-RU" sz="1200" dirty="0"/>
              <a:t>Датасет содержит параметры:</a:t>
            </a:r>
          </a:p>
          <a:p>
            <a:r>
              <a:rPr lang="ru-RU" sz="1200" dirty="0"/>
              <a:t>Звёзд </a:t>
            </a:r>
          </a:p>
          <a:p>
            <a:r>
              <a:rPr lang="ru-RU" sz="1200" dirty="0"/>
              <a:t>транзитов </a:t>
            </a:r>
          </a:p>
          <a:p>
            <a:r>
              <a:rPr lang="ru-RU" sz="1200" dirty="0"/>
              <a:t>кандидатов в экзопланеты</a:t>
            </a:r>
          </a:p>
          <a:p>
            <a:pPr marL="0" indent="0">
              <a:buNone/>
            </a:pPr>
            <a:r>
              <a:rPr lang="ru-RU" sz="1200" dirty="0"/>
              <a:t>Основные признаки:</a:t>
            </a:r>
          </a:p>
          <a:p>
            <a:pPr marL="0" indent="0">
              <a:buNone/>
            </a:pPr>
            <a:r>
              <a:rPr lang="en-US" sz="1200" dirty="0" err="1"/>
              <a:t>koi_period</a:t>
            </a:r>
            <a:r>
              <a:rPr lang="en-US" sz="1200" dirty="0"/>
              <a:t> — </a:t>
            </a:r>
            <a:r>
              <a:rPr lang="ru-RU" sz="1200" dirty="0"/>
              <a:t>сколько дней требуется планете для полного оборота вокруг звезды</a:t>
            </a:r>
          </a:p>
          <a:p>
            <a:pPr marL="0" indent="0">
              <a:buNone/>
            </a:pPr>
            <a:r>
              <a:rPr lang="en-US" sz="1200" dirty="0" err="1"/>
              <a:t>koi_prad</a:t>
            </a:r>
            <a:r>
              <a:rPr lang="en-US" sz="1200" dirty="0"/>
              <a:t> — </a:t>
            </a:r>
            <a:r>
              <a:rPr lang="ru-RU" sz="1200" dirty="0"/>
              <a:t>радиус планеты в земных радиусах</a:t>
            </a:r>
          </a:p>
          <a:p>
            <a:pPr marL="0" indent="0">
              <a:buNone/>
            </a:pPr>
            <a:r>
              <a:rPr lang="en-US" sz="1200" dirty="0" err="1"/>
              <a:t>koi_srad</a:t>
            </a:r>
            <a:r>
              <a:rPr lang="en-US" sz="1200" dirty="0"/>
              <a:t> — </a:t>
            </a:r>
            <a:r>
              <a:rPr lang="ru-RU" sz="1200" dirty="0"/>
              <a:t>радиус звезды в солнечных радиусах</a:t>
            </a:r>
          </a:p>
          <a:p>
            <a:pPr marL="0" indent="0">
              <a:buNone/>
            </a:pPr>
            <a:r>
              <a:rPr lang="en-US" sz="1200" dirty="0" err="1"/>
              <a:t>koi_insol</a:t>
            </a:r>
            <a:r>
              <a:rPr lang="en-US" sz="1200" dirty="0"/>
              <a:t> — </a:t>
            </a:r>
            <a:r>
              <a:rPr lang="ru-RU" sz="1200" dirty="0"/>
              <a:t>инсоляция - количество энергии, получаемой планетой от звезды</a:t>
            </a:r>
          </a:p>
          <a:p>
            <a:pPr marL="0" indent="0">
              <a:buNone/>
            </a:pPr>
            <a:r>
              <a:rPr lang="en-US" sz="1200" dirty="0" err="1"/>
              <a:t>koi_depth</a:t>
            </a:r>
            <a:r>
              <a:rPr lang="en-US" sz="1200" dirty="0"/>
              <a:t> — </a:t>
            </a:r>
            <a:r>
              <a:rPr lang="ru-RU" sz="1200" dirty="0"/>
              <a:t>насколько сильно уменьшается яркость звезды при транзите</a:t>
            </a:r>
          </a:p>
          <a:p>
            <a:pPr marL="0" indent="0">
              <a:buNone/>
            </a:pPr>
            <a:r>
              <a:rPr lang="en-US" sz="1200" dirty="0" err="1"/>
              <a:t>koi_duration</a:t>
            </a:r>
            <a:r>
              <a:rPr lang="en-US" sz="1200" dirty="0"/>
              <a:t> — </a:t>
            </a:r>
            <a:r>
              <a:rPr lang="ru-RU" sz="1200" dirty="0"/>
              <a:t>длительность транзита</a:t>
            </a:r>
          </a:p>
          <a:p>
            <a:pPr marL="0" indent="0">
              <a:buNone/>
            </a:pPr>
            <a:r>
              <a:rPr lang="ru-RU" sz="1200" dirty="0"/>
              <a:t>На этапе </a:t>
            </a:r>
            <a:r>
              <a:rPr lang="en-US" sz="1200" dirty="0"/>
              <a:t>preprocessing </a:t>
            </a:r>
            <a:r>
              <a:rPr lang="ru-RU" sz="1200" dirty="0"/>
              <a:t>были: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удалены ненужные признаки(</a:t>
            </a:r>
            <a:r>
              <a:rPr lang="en-US" sz="1200" dirty="0" err="1"/>
              <a:t>rowid</a:t>
            </a:r>
            <a:r>
              <a:rPr lang="ru-RU" sz="1200" dirty="0"/>
              <a:t>, </a:t>
            </a:r>
            <a:r>
              <a:rPr lang="en-US" sz="1200" dirty="0" err="1"/>
              <a:t>kepid</a:t>
            </a:r>
            <a:r>
              <a:rPr lang="ru-RU" sz="1200" dirty="0"/>
              <a:t>, </a:t>
            </a:r>
            <a:r>
              <a:rPr lang="en-US" sz="1200" dirty="0" err="1"/>
              <a:t>koi_score</a:t>
            </a:r>
            <a:r>
              <a:rPr lang="ru-RU" sz="1200" dirty="0"/>
              <a:t>, </a:t>
            </a:r>
            <a:r>
              <a:rPr lang="en-US" sz="1200" dirty="0" err="1"/>
              <a:t>koi_pdisposition</a:t>
            </a:r>
            <a:r>
              <a:rPr lang="ru-RU" sz="12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обработаны пропуски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выполнено </a:t>
            </a:r>
            <a:r>
              <a:rPr lang="en-US" sz="1200" dirty="0"/>
              <a:t>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предотвращён </a:t>
            </a:r>
            <a:r>
              <a:rPr lang="en-US" sz="1200" dirty="0"/>
              <a:t>data leakage</a:t>
            </a:r>
            <a:endParaRPr lang="ru-RU" sz="1200" dirty="0"/>
          </a:p>
          <a:p>
            <a:pPr marL="0" indent="0">
              <a:buNone/>
            </a:pPr>
            <a:r>
              <a:rPr lang="ru-RU" sz="1200" dirty="0"/>
              <a:t>Особое внимание было уделено предотвращению leakage. Некоторые признаки, например koi_score, </a:t>
            </a:r>
            <a:r>
              <a:rPr lang="en-US" sz="1200" dirty="0" err="1"/>
              <a:t>koi_pdisposition</a:t>
            </a:r>
            <a:r>
              <a:rPr lang="ru-RU" sz="1200" dirty="0"/>
              <a:t> уже содержат предварительную оценку pipeline NASA. Если использовать такие признаки, модель начинает опираться на готовые предсказания вместо изучения физических закономерностей. Поэтому такие признаки были исключены.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378117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E6C8-66F7-4E4D-8A72-0215C234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📡 Данные и признаки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ABF5-EE4F-450A-B95A-D3409D5C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282" y="1891553"/>
            <a:ext cx="102338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Обработка пропусков</a:t>
            </a:r>
            <a:r>
              <a:rPr lang="en-US" sz="1600" dirty="0"/>
              <a:t>:</a:t>
            </a:r>
            <a:endParaRPr lang="ru-RU" sz="1600" dirty="0"/>
          </a:p>
          <a:p>
            <a:r>
              <a:rPr lang="ru-RU" sz="1600" dirty="0"/>
              <a:t>Числовые признаки заполнялись медианой</a:t>
            </a:r>
            <a:r>
              <a:rPr lang="en-US" sz="1600" dirty="0"/>
              <a:t>, </a:t>
            </a:r>
            <a:r>
              <a:rPr lang="ru-RU" sz="1600" dirty="0"/>
              <a:t>потому что медиана более устойчива к выбросам.</a:t>
            </a:r>
          </a:p>
          <a:p>
            <a:r>
              <a:rPr lang="ru-RU" sz="1600" dirty="0"/>
              <a:t>Категориальные признаки заполнялись значением </a:t>
            </a:r>
            <a:r>
              <a:rPr lang="en-US" sz="1600" dirty="0"/>
              <a:t>“unknown”</a:t>
            </a:r>
          </a:p>
          <a:p>
            <a:pPr marL="0" indent="0">
              <a:buNone/>
            </a:pPr>
            <a:r>
              <a:rPr lang="ru-RU" sz="1600" b="1" dirty="0"/>
              <a:t>Feature Engineering</a:t>
            </a:r>
            <a:r>
              <a:rPr lang="en-US" sz="1600" b="1" dirty="0"/>
              <a:t>.</a:t>
            </a:r>
            <a:r>
              <a:rPr lang="ru-RU" sz="1600" b="1" dirty="0"/>
              <a:t> </a:t>
            </a:r>
            <a:r>
              <a:rPr lang="ru-RU" sz="1600" dirty="0"/>
              <a:t>Для улучшения качества модели были созданы дополнительные признаки:</a:t>
            </a:r>
          </a:p>
          <a:p>
            <a:r>
              <a:rPr lang="ru-RU" sz="1600" dirty="0"/>
              <a:t>Логарифм периода. Периоды могут различаться на несколько порядков.Логарифмирование уменьшает разброс значений и стабилизирует распределение.</a:t>
            </a:r>
          </a:p>
          <a:p>
            <a:r>
              <a:rPr lang="ru-RU" sz="1600" dirty="0"/>
              <a:t>Отношение радиусов. Этот признак показывает отношение радиуса планеты к радиусу звезды. Он напрямую влияет на глубину транзита.</a:t>
            </a:r>
          </a:p>
          <a:p>
            <a:r>
              <a:rPr lang="ru-RU" sz="1600" dirty="0"/>
              <a:t>Логарифм инсоляции. Использовался для уменьшения разброса значений инсоляции.</a:t>
            </a:r>
          </a:p>
          <a:p>
            <a:pPr marL="0" indent="0">
              <a:buNone/>
            </a:pPr>
            <a:r>
              <a:rPr lang="ru-RU" sz="1600" dirty="0"/>
              <a:t>Целевая переменная была создана на основе признака </a:t>
            </a:r>
            <a:r>
              <a:rPr lang="en-US" sz="1600" dirty="0" err="1"/>
              <a:t>koi_disposition</a:t>
            </a:r>
            <a:r>
              <a:rPr lang="ru-RU" sz="1600" dirty="0"/>
              <a:t>. Была реализована бинарная классификация: CONFIRMED → 1 остальные значения → 0</a:t>
            </a:r>
          </a:p>
          <a:p>
            <a:pPr marL="0" indent="0">
              <a:buNone/>
            </a:pPr>
            <a:endParaRPr lang="ru-RU" sz="1050" b="1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946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A3E1-6224-4712-B1E9-4A7F97A5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🤖 Модель и подход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C261-8B64-410D-A250-2F96BAFC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В качестве основной модели был выбран RandomForestClassifier.</a:t>
            </a:r>
          </a:p>
          <a:p>
            <a:pPr marL="0" indent="0">
              <a:buNone/>
            </a:pPr>
            <a:r>
              <a:rPr lang="ru-RU" dirty="0"/>
              <a:t>Причины: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хорошо работает с tabular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устойчив к шуму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умеет находить нелинейные зависимости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менее склонен к overfitting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поддерживает feature importance</a:t>
            </a:r>
          </a:p>
          <a:p>
            <a:pPr marL="0" indent="0">
              <a:buNone/>
            </a:pPr>
            <a:r>
              <a:rPr lang="ru-RU" dirty="0"/>
              <a:t>Также была протестирована </a:t>
            </a:r>
            <a:r>
              <a:rPr lang="en-US" dirty="0"/>
              <a:t>Logistic Regression </a:t>
            </a:r>
            <a:r>
              <a:rPr lang="ru-RU" dirty="0"/>
              <a:t>как </a:t>
            </a:r>
            <a:r>
              <a:rPr lang="en-US" dirty="0"/>
              <a:t>baseline-</a:t>
            </a:r>
            <a:r>
              <a:rPr lang="ru-RU" dirty="0"/>
              <a:t>модель.</a:t>
            </a:r>
          </a:p>
          <a:p>
            <a:pPr marL="0" indent="0">
              <a:buNone/>
            </a:pPr>
            <a:r>
              <a:rPr lang="ru-RU" dirty="0"/>
              <a:t>Однако: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 </a:t>
            </a:r>
            <a:r>
              <a:rPr lang="ru-RU" dirty="0"/>
              <a:t>является линейной моделью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хуже работает со сложными нелинейными зависимостями </a:t>
            </a:r>
          </a:p>
          <a:p>
            <a:pPr marL="0" indent="0">
              <a:buNone/>
            </a:pPr>
            <a:r>
              <a:rPr lang="en-US" dirty="0"/>
              <a:t>Random Forest </a:t>
            </a:r>
            <a:r>
              <a:rPr lang="ru-RU" dirty="0"/>
              <a:t>показал: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более высокий </a:t>
            </a:r>
            <a:r>
              <a:rPr lang="en-US" dirty="0"/>
              <a:t>Recall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более высокий </a:t>
            </a:r>
            <a:r>
              <a:rPr lang="en-US" dirty="0"/>
              <a:t>ROC AUC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67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A3E1-6224-4712-B1E9-4A7F97A5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🤖 Модель и подход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C261-8B64-410D-A250-2F96BAFC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Для построения </a:t>
            </a:r>
            <a:r>
              <a:rPr lang="en-US" dirty="0"/>
              <a:t>ML pipeline </a:t>
            </a:r>
            <a:r>
              <a:rPr lang="ru-RU" dirty="0"/>
              <a:t>использовались: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StandardScaler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RandomForestClassifier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GridSearchCV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GridSearchCV автоматически перебирает различные комбинации гиперпараметров и выбирает лучшую модель.</a:t>
            </a:r>
          </a:p>
          <a:p>
            <a:pPr marL="0" indent="0">
              <a:buNone/>
            </a:pPr>
            <a:r>
              <a:rPr lang="ru-RU" dirty="0"/>
              <a:t>Использовалось: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5-fold cross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оптимизация по Recall</a:t>
            </a:r>
          </a:p>
          <a:p>
            <a:pPr marL="0" indent="0">
              <a:buNone/>
            </a:pPr>
            <a:r>
              <a:rPr lang="ru-RU" dirty="0"/>
              <a:t>В задаче поиска экзопланет особенно важно не пропускать реальные планеты. Поэтому основной метрикой был выбран Recall.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339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A3E1-6224-4712-B1E9-4A7F97A5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🤖 Метрики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C261-8B64-410D-A250-2F96BAFC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Accuracy</a:t>
            </a:r>
            <a:r>
              <a:rPr lang="ru-RU" dirty="0"/>
              <a:t> - Общая точность модели.</a:t>
            </a:r>
          </a:p>
          <a:p>
            <a:pPr marL="0" indent="0">
              <a:buNone/>
            </a:pPr>
            <a:r>
              <a:rPr lang="en-US" dirty="0"/>
              <a:t>Precision</a:t>
            </a:r>
            <a:r>
              <a:rPr lang="ru-RU" dirty="0"/>
              <a:t> - Насколько можно доверять positive predictions.</a:t>
            </a:r>
          </a:p>
          <a:p>
            <a:pPr marL="0" indent="0">
              <a:buNone/>
            </a:pPr>
            <a:r>
              <a:rPr lang="en-US" dirty="0"/>
              <a:t>Recall</a:t>
            </a:r>
            <a:r>
              <a:rPr lang="ru-RU" dirty="0"/>
              <a:t> - Какую долю реальных экзопланет смогла найти модель.</a:t>
            </a:r>
          </a:p>
          <a:p>
            <a:pPr marL="0" indent="0">
              <a:buNone/>
            </a:pPr>
            <a:r>
              <a:rPr lang="en-US" dirty="0"/>
              <a:t>F1-score</a:t>
            </a:r>
            <a:r>
              <a:rPr lang="ru-RU" dirty="0"/>
              <a:t> - Баланс между </a:t>
            </a:r>
            <a:r>
              <a:rPr lang="en-US" dirty="0"/>
              <a:t>Precision </a:t>
            </a:r>
            <a:r>
              <a:rPr lang="ru-RU" dirty="0"/>
              <a:t>и </a:t>
            </a:r>
            <a:r>
              <a:rPr lang="en-US" dirty="0"/>
              <a:t>Recall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en-US" dirty="0"/>
              <a:t>ROC AUC</a:t>
            </a:r>
            <a:r>
              <a:rPr lang="ru-RU" dirty="0"/>
              <a:t> - ROC-кривая показывает способность модели разделять классы при различных threshold. Площадь под ROC-кривой </a:t>
            </a:r>
            <a:r>
              <a:rPr lang="en-US" dirty="0"/>
              <a:t>AUC ≈ 0.96</a:t>
            </a:r>
            <a:r>
              <a:rPr lang="ru-RU" dirty="0"/>
              <a:t> что говорит о высоком качестве модели.</a:t>
            </a:r>
          </a:p>
          <a:p>
            <a:pPr marL="0" indent="0">
              <a:buNone/>
            </a:pPr>
            <a:r>
              <a:rPr lang="en-US" dirty="0"/>
              <a:t>Threshold</a:t>
            </a:r>
            <a:r>
              <a:rPr lang="ru-RU" dirty="0"/>
              <a:t> был снижен с 0.5 до 0.3 для увеличения Recall.</a:t>
            </a:r>
          </a:p>
          <a:p>
            <a:pPr marL="0" indent="0">
              <a:buNone/>
            </a:pPr>
            <a:r>
              <a:rPr lang="ru-RU" dirty="0"/>
              <a:t>Это позволяет уменьшить вероятность пропуска настоящих экзопланет.</a:t>
            </a:r>
          </a:p>
          <a:p>
            <a:pPr marL="0" indent="0">
              <a:buNone/>
            </a:pPr>
            <a:r>
              <a:rPr lang="ru-RU" dirty="0"/>
              <a:t>После обучения был выполнен анализ feature importance.</a:t>
            </a:r>
          </a:p>
          <a:p>
            <a:pPr marL="0" indent="0">
              <a:buNone/>
            </a:pPr>
            <a:r>
              <a:rPr lang="ru-RU" dirty="0"/>
              <a:t>Это позволяет понять, какие признаки сильнее всего влияют на решения модели.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04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EADC-42D8-4799-A100-510E41D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💻 Демо приложения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9ABC0-7821-484E-8C31-B72B5E8B5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Я сделал интерфейс на Streamlit.</a:t>
            </a:r>
          </a:p>
          <a:p>
            <a:pPr marL="0" indent="0">
              <a:buNone/>
            </a:pPr>
            <a:r>
              <a:rPr lang="ru-RU" dirty="0"/>
              <a:t>Пользователь вводит ключевые параметры: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период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радиус планеты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радиус звезды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инсоляцию </a:t>
            </a:r>
          </a:p>
          <a:p>
            <a:pPr marL="0" indent="0">
              <a:buNone/>
            </a:pPr>
            <a:r>
              <a:rPr lang="ru-RU" dirty="0"/>
              <a:t>Остальные параметры автоматически заполняются медианными значениями, чтобы сохранить качество модели.</a:t>
            </a:r>
          </a:p>
          <a:p>
            <a:pPr marL="0" indent="0">
              <a:buNone/>
            </a:pPr>
            <a:r>
              <a:rPr lang="ru-RU" dirty="0"/>
              <a:t>После этого модель выдаёт вероятность того, что это экзопланета.</a:t>
            </a:r>
          </a:p>
          <a:p>
            <a:pPr marL="0" indent="0">
              <a:buNone/>
            </a:pPr>
            <a:r>
              <a:rPr lang="ru-RU" dirty="0"/>
              <a:t>Также можно регулировать порог, чтобы управлять балансом между точностью и полнотой.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04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0AE3-9049-4D6D-BCD7-68D67BEB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3"/>
            <a:ext cx="10515600" cy="1325563"/>
          </a:xfrm>
        </p:spPr>
        <p:txBody>
          <a:bodyPr/>
          <a:lstStyle/>
          <a:p>
            <a:r>
              <a:rPr lang="ru-RU" dirty="0"/>
              <a:t>📌 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1278-0111-460B-BE96-81ABD3596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1186987"/>
            <a:ext cx="6221506" cy="45540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2900" dirty="0"/>
              <a:t>В рамках проекта ExoHunter 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поработал с реальными астрономическими данными NASA Kepler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выполнил preprocessing и 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реализовал ML pipeline для классификации экзопланет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сравнил несколько моделей машинного обучения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выполнил hyperparameter tuning с помощью GridSearchCV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проанализировал метрики качества модели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реализовал Streamlit-приложение для интерактивного предсказания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подготовил модель к deployment</a:t>
            </a:r>
          </a:p>
          <a:p>
            <a:pPr marL="0" indent="0">
              <a:buNone/>
            </a:pPr>
            <a:r>
              <a:rPr lang="ru-RU" sz="2900" dirty="0"/>
              <a:t>Основными сложностями стали: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работа с большим количеством признаков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предотвращение data leakage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синхронизация признаков между обучением модели и production-приложением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подбор оптимального threshold для баланса между Recall и Precision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900" dirty="0"/>
              <a:t>интерпретация результатов модели</a:t>
            </a:r>
          </a:p>
          <a:p>
            <a:pPr marL="0" indent="0">
              <a:buNone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BC267-0EF2-45F8-85A8-6CCF8DDF6DE0}"/>
              </a:ext>
            </a:extLst>
          </p:cNvPr>
          <p:cNvSpPr txBox="1"/>
          <p:nvPr/>
        </p:nvSpPr>
        <p:spPr>
          <a:xfrm>
            <a:off x="6526306" y="1186987"/>
            <a:ext cx="54326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В дальнейшем проект можно развивать в нескольких направлениях: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использовать deep learning для анализа raw light curves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реализовать автоматический анализ временных рядов телескопических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протестировать более сложные ансамблевые модели, например XGBoost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расширить Streamlit-приложение визуализацией feature importance и астрономических параметров.</a:t>
            </a:r>
          </a:p>
          <a:p>
            <a:r>
              <a:rPr lang="ru-RU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В целом проект показал, что методы машинного обучения могут эффективно использоваться для автоматизированного анализа космических данных и поиска потенциальных экзопланет.</a:t>
            </a:r>
          </a:p>
        </p:txBody>
      </p:sp>
    </p:spTree>
    <p:extLst>
      <p:ext uri="{BB962C8B-B14F-4D97-AF65-F5344CB8AC3E}">
        <p14:creationId xmlns:p14="http://schemas.microsoft.com/office/powerpoint/2010/main" val="41702509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198</TotalTime>
  <Words>816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Depth</vt:lpstr>
      <vt:lpstr>PowerPoint Presentation</vt:lpstr>
      <vt:lpstr>📡 Данные и признаки</vt:lpstr>
      <vt:lpstr>📡 Данные и признаки</vt:lpstr>
      <vt:lpstr>📡 Данные и признаки</vt:lpstr>
      <vt:lpstr>🤖 Модель и подход</vt:lpstr>
      <vt:lpstr>🤖 Модель и подход</vt:lpstr>
      <vt:lpstr>🤖 Метрики</vt:lpstr>
      <vt:lpstr>💻 Демо приложения</vt:lpstr>
      <vt:lpstr>📌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Тимур Султанбеков</dc:creator>
  <cp:lastModifiedBy>Тимур Султанбеков</cp:lastModifiedBy>
  <cp:revision>7</cp:revision>
  <dcterms:created xsi:type="dcterms:W3CDTF">2026-05-01T17:57:52Z</dcterms:created>
  <dcterms:modified xsi:type="dcterms:W3CDTF">2026-05-13T12:21:27Z</dcterms:modified>
</cp:coreProperties>
</file>